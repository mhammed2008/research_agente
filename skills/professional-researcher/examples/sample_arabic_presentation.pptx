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04143" y="1645920"/>
            <a:ext cx="164592" cy="329184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81425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200" b="1">
                <a:solidFill>
                  <a:srgbClr val="D1FAE5"/>
                </a:solidFill>
                <a:latin typeface="Arial"/>
              </a:defRPr>
            </a:pPr>
            <a:r>
              <a:t>تقرير استراتيجي تنفيذي</a:t>
            </a:r>
          </a:p>
          <a:p>
            <a:pPr algn="r" rtl="1">
              <a:spcBef>
                <a:spcPts val="1400"/>
              </a:spcBef>
              <a:spcAft>
                <a:spcPts val="120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cs typeface="Arial"/>
              </a:rPr>
              <a:t>مستقبل المحافظ الرقمية والمدفوعات اللاتلامسية</a:t>
            </a:r>
          </a:p>
          <a:p>
            <a:pPr algn="r" rtl="1">
              <a:spcAft>
                <a:spcPts val="1600"/>
              </a:spcAft>
            </a:pPr>
            <a:r>
              <a:rPr sz="1800" b="0" i="0">
                <a:solidFill>
                  <a:srgbClr val="CBD5E1"/>
                </a:solidFill>
                <a:latin typeface="Arial"/>
                <a:cs typeface="Arial"/>
              </a:rPr>
              <a:t>دراسة استراتيجية شاملة للتحول الرقمي والأمان المالي والمعايير البنكية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98142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100">
                <a:solidFill>
                  <a:srgbClr val="94A3B8"/>
                </a:solidFill>
                <a:latin typeface="Arial"/>
              </a:defRPr>
            </a:pPr>
            <a:r>
              <a:t>إعداد: د. محمد أحمد - خبير استراتيجيات التقنية المالية   |   الجهة: مجموعة جيب للمدفوعات الرقمية الذكية   |   التاريخ: أكتوبر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34095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جدول الأعمال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900">
                <a:solidFill>
                  <a:srgbClr val="64748B"/>
                </a:solidFill>
                <a:latin typeface="Arial"/>
              </a:defRPr>
            </a:pPr>
            <a:r>
              <a:t>مجموعة جيب للمدفوعات الرقمية الذكية • مستقبل المحافظ الرقمية والمدفوعات اللاتلامسية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064E3B"/>
                </a:solidFill>
                <a:latin typeface="Arial"/>
                <a:cs typeface="Arial"/>
              </a:rPr>
              <a:t>محاور العرض الاستراتيجي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07040" y="187452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400" b="1" i="0">
                <a:solidFill>
                  <a:srgbClr val="1E293B"/>
                </a:solidFill>
                <a:latin typeface="Arial"/>
                <a:cs typeface="Arial"/>
              </a:rPr>
              <a:t>دوافع التحول الرقمي في القطاع المالي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87452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400" b="1" i="0">
                <a:solidFill>
                  <a:srgbClr val="1E293B"/>
                </a:solidFill>
                <a:latin typeface="Arial"/>
                <a:cs typeface="Arial"/>
              </a:rPr>
              <a:t>المقارنة المعمارية بين نقاط البيع التقليدية والمحافظ الذكية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718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07040" y="315468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400" b="1" i="0">
                <a:solidFill>
                  <a:srgbClr val="1E293B"/>
                </a:solidFill>
                <a:latin typeface="Arial"/>
                <a:cs typeface="Arial"/>
              </a:rPr>
              <a:t>مؤشرات الأداء والنمو التشغيلي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315468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0896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400" b="1" i="0">
                <a:solidFill>
                  <a:srgbClr val="1E293B"/>
                </a:solidFill>
                <a:latin typeface="Arial"/>
                <a:cs typeface="Arial"/>
              </a:rPr>
              <a:t>معايير الأمان والحماية البنكية PCI DSS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5196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07040" y="443484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38912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400" b="1" i="0">
                <a:solidFill>
                  <a:srgbClr val="1E293B"/>
                </a:solidFill>
                <a:latin typeface="Arial"/>
                <a:cs typeface="Arial"/>
              </a:rPr>
              <a:t>مصفوفة مقارنة المنصات وقنوات الدفع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5196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0" y="4434840"/>
            <a:ext cx="640080" cy="64008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89120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/>
            <a:r>
              <a:rPr sz="1400" b="1" i="0">
                <a:solidFill>
                  <a:srgbClr val="1E293B"/>
                </a:solidFill>
                <a:latin typeface="Arial"/>
                <a:cs typeface="Arial"/>
              </a:rPr>
              <a:t>التوصيات التنفيذية وخريطة الطريق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34095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الملخص التنفيذي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900">
                <a:solidFill>
                  <a:srgbClr val="64748B"/>
                </a:solidFill>
                <a:latin typeface="Arial"/>
              </a:defRPr>
            </a:pPr>
            <a:r>
              <a:t>مجموعة جيب للمدفوعات الرقمية الذكية • مستقبل المحافظ الرقمية والمدفوعات اللاتلامسية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064E3B"/>
                </a:solidFill>
                <a:latin typeface="Arial"/>
                <a:cs typeface="Arial"/>
              </a:rPr>
              <a:t>دوافع التحول والنمو في السوق المالي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0180015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400" b="0" i="0">
                <a:solidFill>
                  <a:srgbClr val="1E293B"/>
                </a:solidFill>
                <a:latin typeface="Arial"/>
                <a:cs typeface="Arial"/>
              </a:rPr>
              <a:t>يشهد قطاع المدفوعات المالية قفزة نوعية في اعتماد الحلول الذكية واللاتلامسية:</a:t>
            </a:r>
          </a:p>
          <a:p>
            <a:pPr algn="r" rtl="1">
              <a:spcBef>
                <a:spcPts val="40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Arial"/>
                <a:cs typeface="Arial"/>
              </a:rPr>
              <a:t>• </a:t>
            </a:r>
            <a:r>
              <a:rPr sz="1400" b="1" i="0">
                <a:solidFill>
                  <a:srgbClr val="1E293B"/>
                </a:solidFill>
                <a:latin typeface="Arial"/>
                <a:cs typeface="Arial"/>
              </a:rPr>
              <a:t>تسارع التبني المجتمعي</a:t>
            </a:r>
            <a:r>
              <a:rPr sz="1400" b="0" i="0">
                <a:solidFill>
                  <a:srgbClr val="1E293B"/>
                </a:solidFill>
                <a:latin typeface="Arial"/>
                <a:cs typeface="Arial"/>
              </a:rPr>
              <a:t>: نمو العمليات غير النقدية بنسبة تتجاوز 45% على أساس سنوي</a:t>
            </a:r>
          </a:p>
          <a:p>
            <a:pPr algn="r" rtl="1">
              <a:spcBef>
                <a:spcPts val="40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Arial"/>
                <a:cs typeface="Arial"/>
              </a:rPr>
              <a:t>• </a:t>
            </a:r>
            <a:r>
              <a:rPr sz="1400" b="1" i="0">
                <a:solidFill>
                  <a:srgbClr val="1E293B"/>
                </a:solidFill>
                <a:latin typeface="Arial"/>
                <a:cs typeface="Arial"/>
              </a:rPr>
              <a:t>كفاءة التكلفة والتشغيل</a:t>
            </a:r>
            <a:r>
              <a:rPr sz="1400" b="0" i="0">
                <a:solidFill>
                  <a:srgbClr val="1E293B"/>
                </a:solidFill>
                <a:latin typeface="Arial"/>
                <a:cs typeface="Arial"/>
              </a:rPr>
              <a:t>:</a:t>
            </a:r>
          </a:p>
          <a:p>
            <a:pPr algn="r" rtl="1">
              <a:spcBef>
                <a:spcPts val="20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  – خفض تكاليف شراء وصيانة أجهزة نقاط البيع المادية بنسبة تفوق 65%</a:t>
            </a:r>
          </a:p>
          <a:p>
            <a:pPr algn="r" rtl="1">
              <a:spcBef>
                <a:spcPts val="200"/>
              </a:spcBef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  – تمكين التجار والشركات الناشئة من قبول المدفوعات عبر الهواتف الذكية مباشرة</a:t>
            </a:r>
          </a:p>
          <a:p>
            <a:pPr algn="r" rtl="1">
              <a:spcBef>
                <a:spcPts val="400"/>
              </a:spcBef>
              <a:spcAft>
                <a:spcPts val="800"/>
              </a:spcAft>
            </a:pPr>
            <a:r>
              <a:rPr sz="1400" b="0" i="0">
                <a:solidFill>
                  <a:srgbClr val="1E293B"/>
                </a:solidFill>
                <a:latin typeface="Arial"/>
                <a:cs typeface="Arial"/>
              </a:rPr>
              <a:t>• </a:t>
            </a:r>
            <a:r>
              <a:rPr sz="1400" b="1" i="0">
                <a:solidFill>
                  <a:srgbClr val="1E293B"/>
                </a:solidFill>
                <a:latin typeface="Arial"/>
                <a:cs typeface="Arial"/>
              </a:rPr>
              <a:t>الامتثال للتشريعات البنكية</a:t>
            </a:r>
            <a:r>
              <a:rPr sz="1400" b="0" i="0">
                <a:solidFill>
                  <a:srgbClr val="1E293B"/>
                </a:solidFill>
                <a:latin typeface="Arial"/>
                <a:cs typeface="Arial"/>
              </a:rPr>
              <a:t>: الالتزام التام بتعليمات البنوك المركزية ومعايير الأمن السيبراني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34095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البنية التحتية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900">
                <a:solidFill>
                  <a:srgbClr val="64748B"/>
                </a:solidFill>
                <a:latin typeface="Arial"/>
              </a:defRPr>
            </a:pPr>
            <a:r>
              <a:t>مجموعة جيب للمدفوعات الرقمية الذكية • مستقبل المحافظ الرقمية والمدفوعات اللاتلامسية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064E3B"/>
                </a:solidFill>
                <a:latin typeface="Arial"/>
                <a:cs typeface="Arial"/>
              </a:rPr>
              <a:t>المقارنة المعمارية: نقاط البيع مقابل المحافظ الذكية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12080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059669"/>
                </a:solidFill>
                <a:latin typeface="Arial"/>
                <a:cs typeface="Arial"/>
              </a:rPr>
              <a:t>نقاط البيع التقليدية (POS)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• تكاليف رأسمالية مرتفعة لشراء الأجهزة</a:t>
            </a:r>
          </a:p>
          <a:p>
            <a:pPr algn="r" rtl="1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• بطء عمليات الصيانة واستبدال القطع</a:t>
            </a:r>
          </a:p>
          <a:p>
            <a:pPr algn="r" rtl="1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• اعتمادات معقدة على شبكات الاتصال الثابتة</a:t>
            </a:r>
          </a:p>
          <a:p>
            <a:pPr algn="r" rtl="1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• صعوبة التكامل اللحظي مع منصات المحاسبة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60020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600200"/>
            <a:ext cx="5212080" cy="109728"/>
          </a:xfrm>
          <a:prstGeom prst="round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17830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064E3B"/>
                </a:solidFill>
                <a:latin typeface="Arial"/>
                <a:cs typeface="Arial"/>
              </a:rPr>
              <a:t>المحافظ الرقمية الذكية (SoftPOS)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77440"/>
            <a:ext cx="4663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• تشغيل فوري على الهواتف والأجهزة التجارية</a:t>
            </a:r>
          </a:p>
          <a:p>
            <a:pPr algn="r" rtl="1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• تحديثات سحابية فورية للأمان والبرمجيات</a:t>
            </a:r>
          </a:p>
          <a:p>
            <a:pPr algn="r" rtl="1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• مرونة فائقة وقبول الدفع عبر NFC و QR</a:t>
            </a:r>
          </a:p>
          <a:p>
            <a:pPr algn="r" rtl="1">
              <a:spcAft>
                <a:spcPts val="800"/>
              </a:spcAft>
            </a:pPr>
            <a:r>
              <a:rPr sz="1300" b="0" i="0">
                <a:solidFill>
                  <a:srgbClr val="1E293B"/>
                </a:solidFill>
                <a:latin typeface="Arial"/>
                <a:cs typeface="Arial"/>
              </a:rPr>
              <a:t>• ربط فوري وشامل عبر واجهات برمجة التطبيقات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34095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مؤشرات الإنجاز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900">
                <a:solidFill>
                  <a:srgbClr val="64748B"/>
                </a:solidFill>
                <a:latin typeface="Arial"/>
              </a:defRPr>
            </a:pPr>
            <a:r>
              <a:t>مجموعة جيب للمدفوعات الرقمية الذكية • مستقبل المحافظ الرقمية والمدفوعات اللاتلامسية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064E3B"/>
                </a:solidFill>
                <a:latin typeface="Arial"/>
                <a:cs typeface="Arial"/>
              </a:rPr>
              <a:t>مؤشرات الأداء والفاعلية التشغيلية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3751" y="1691640"/>
            <a:ext cx="247642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83751" y="1691640"/>
            <a:ext cx="2476423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66631" y="2240280"/>
            <a:ext cx="21106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Arial"/>
              </a:defRPr>
            </a:pPr>
            <a:r>
              <a:t>99.99%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6631" y="3429000"/>
            <a:ext cx="21106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4E3B"/>
                </a:solidFill>
                <a:latin typeface="Arial"/>
                <a:cs typeface="Arial"/>
              </a:rPr>
              <a:t>جاهزية النظام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4748B"/>
                </a:solidFill>
                <a:latin typeface="Arial"/>
                <a:cs typeface="Arial"/>
              </a:rPr>
              <a:t>توافر سحابي متواصل دون انقطاع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691640"/>
            <a:ext cx="247642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691640"/>
            <a:ext cx="2476423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2240280"/>
            <a:ext cx="21106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Arial"/>
              </a:defRPr>
            </a:pPr>
            <a:r>
              <a:t>&lt;1.2 ثانية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3429000"/>
            <a:ext cx="21106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4E3B"/>
                </a:solidFill>
                <a:latin typeface="Arial"/>
                <a:cs typeface="Arial"/>
              </a:rPr>
              <a:t>سرعة تنفيذ العملية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4748B"/>
                </a:solidFill>
                <a:latin typeface="Arial"/>
                <a:cs typeface="Arial"/>
              </a:rPr>
              <a:t>تجربة مستخدم فائقة السلاسة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2263" y="1691640"/>
            <a:ext cx="247642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2263" y="1691640"/>
            <a:ext cx="2476423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65143" y="2240280"/>
            <a:ext cx="21106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Arial"/>
              </a:defRPr>
            </a:pPr>
            <a:r>
              <a:t>+65%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5143" y="3429000"/>
            <a:ext cx="21106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4E3B"/>
                </a:solidFill>
                <a:latin typeface="Arial"/>
                <a:cs typeface="Arial"/>
              </a:rPr>
              <a:t>نمو قاعدة التجار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4748B"/>
                </a:solidFill>
                <a:latin typeface="Arial"/>
                <a:cs typeface="Arial"/>
              </a:rPr>
              <a:t>سرعة فائقة في انضمام المتاجر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1691640"/>
            <a:ext cx="2476423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1691640"/>
            <a:ext cx="2476423" cy="109728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240280"/>
            <a:ext cx="211066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  <a:latin typeface="Arial"/>
              </a:defRPr>
            </a:pPr>
            <a:r>
              <a:t>0.001%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29000"/>
            <a:ext cx="211066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4E3B"/>
                </a:solidFill>
                <a:latin typeface="Arial"/>
                <a:cs typeface="Arial"/>
              </a:rPr>
              <a:t>معدل النزاعات</a:t>
            </a:r>
          </a:p>
          <a:p>
            <a:pPr algn="ctr">
              <a:spcBef>
                <a:spcPts val="800"/>
              </a:spcBef>
            </a:pPr>
            <a:r>
              <a:rPr sz="1200" b="0" i="0">
                <a:solidFill>
                  <a:srgbClr val="64748B"/>
                </a:solidFill>
                <a:latin typeface="Arial"/>
                <a:cs typeface="Arial"/>
              </a:rPr>
              <a:t>حماية فائقة ضد الاحتيال المالي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34095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الأمان والامتثال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900">
                <a:solidFill>
                  <a:srgbClr val="64748B"/>
                </a:solidFill>
                <a:latin typeface="Arial"/>
              </a:defRPr>
            </a:pPr>
            <a:r>
              <a:t>مجموعة جيب للمدفوعات الرقمية الذكية • مستقبل المحافظ الرقمية والمدفوعات اللاتلامسية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064E3B"/>
                </a:solidFill>
                <a:latin typeface="Arial"/>
                <a:cs typeface="Arial"/>
              </a:rPr>
              <a:t>الامتثال التنظيمي والحماية السيبرانية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2976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295583" y="1645920"/>
            <a:ext cx="164592" cy="4297680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99971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1500" b="1">
                <a:solidFill>
                  <a:srgbClr val="E11D48"/>
                </a:solidFill>
                <a:latin typeface="Arial"/>
              </a:defRPr>
            </a:pPr>
            <a:r>
              <a:t>[الامتثال لمعايير PCI DSS والأمان اللاتلامسي]</a:t>
            </a:r>
          </a:p>
          <a:p>
            <a:pPr algn="r" rtl="1">
              <a:spcBef>
                <a:spcPts val="1200"/>
              </a:spcBef>
              <a:spcAft>
                <a:spcPts val="1400"/>
              </a:spcAft>
            </a:pPr>
            <a:r>
              <a:rPr sz="1600" b="0" i="0">
                <a:solidFill>
                  <a:srgbClr val="1E293B"/>
                </a:solidFill>
                <a:latin typeface="Arial"/>
                <a:cs typeface="Arial"/>
              </a:rPr>
              <a:t>يتطلب تشغيل منصات الدفع الذكية تطبيق أعلى معايير التشفير الصارم وفق بروتوكولات AES-256 و DUKPT. يجب عزل بيانات البطاقات البنكية في بيئة مشفرة مغلقة ومنع تخزين رمز التحقق (CVV) أو أرقام البطاقات الحساسة، مع إجراء فحص دوري واختبارات اختراق مستمرة لضمان سلامة التعاملات المالية.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34095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059669"/>
                </a:solidFill>
                <a:latin typeface="Arial"/>
              </a:defRPr>
            </a:pPr>
            <a:r>
              <a:t>مصفوفة المقارنة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A7F3D0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defRPr sz="900">
                <a:solidFill>
                  <a:srgbClr val="64748B"/>
                </a:solidFill>
                <a:latin typeface="Arial"/>
              </a:defRPr>
            </a:pPr>
            <a:r>
              <a:t>مجموعة جيب للمدفوعات الرقمية الذكية • مستقبل المحافظ الرقمية والمدفوعات اللاتلامسية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3276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064E3B"/>
                </a:solidFill>
                <a:latin typeface="Arial"/>
                <a:cs typeface="Arial"/>
              </a:rPr>
              <a:t>مصفوفة تقييم وسائل الدفع الإلكتروني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859536">
                <a:tc>
                  <a:txBody>
                    <a:bodyPr/>
                    <a:lstStyle/>
                    <a:p>
                      <a:pPr algn="r" rtl="1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معيار المقارنة</a:t>
                      </a:r>
                    </a:p>
                  </a:txBody>
                  <a:tcPr anchor="ctr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البطاقات البنكية NFC</a:t>
                      </a:r>
                    </a:p>
                  </a:txBody>
                  <a:tcPr anchor="ctr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محافظ الهواتف الذكية</a:t>
                      </a:r>
                    </a:p>
                  </a:txBody>
                  <a:tcPr anchor="ctr"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رموز الاستجابة السريعة QR</a:t>
                      </a:r>
                    </a:p>
                  </a:txBody>
                  <a:tcPr anchor="ctr">
                    <a:solidFill>
                      <a:srgbClr val="064E3B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r" rtl="1"/>
                      <a:r>
                        <a:rPr sz="1200" b="1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سرعة إتمام العملية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فائقة (أقل من ثانية)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سريعة جداً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متوسطة (2 - 3 ثواني)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r" rtl="1"/>
                      <a:r>
                        <a:rPr sz="1200" b="1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تكلفة التكامل للتاجر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منخفضة جداً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منخفضة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مجانية تقريباً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r" rtl="1"/>
                      <a:r>
                        <a:rPr sz="1200" b="1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مستوى الأمان والتشفير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شريحة EMV مشفرة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مصادقة بيومترية حيوية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تشفير سحابي ديناميكي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r" rtl="1"/>
                      <a:r>
                        <a:rPr sz="1200" b="1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انتشار القبول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عالمي وواسع النطاق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متسارع وعالي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 i="0">
                          <a:solidFill>
                            <a:srgbClr val="1E293B"/>
                          </a:solidFill>
                          <a:latin typeface="Arial"/>
                          <a:cs typeface="Arial"/>
                        </a:rPr>
                        <a:t>محلي وإقليمي واسع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solidFill>
              <a:srgbClr val="064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04143" y="2011680"/>
            <a:ext cx="164592" cy="256032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81425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 i="0">
                <a:solidFill>
                  <a:srgbClr val="FFFFFF"/>
                </a:solidFill>
                <a:latin typeface="Arial"/>
                <a:cs typeface="Arial"/>
              </a:rPr>
              <a:t>الخاتمة والتوصيات الاستراتيجية</a:t>
            </a:r>
          </a:p>
          <a:p>
            <a:pPr algn="r" rtl="1">
              <a:spcBef>
                <a:spcPts val="1400"/>
              </a:spcBef>
            </a:pPr>
            <a:r>
              <a:rPr sz="1800" b="0" i="0">
                <a:solidFill>
                  <a:srgbClr val="CBD5E1"/>
                </a:solidFill>
                <a:latin typeface="Arial"/>
                <a:cs typeface="Arial"/>
              </a:rPr>
              <a:t>دراسة استراتيجية شاملة للتحول الرقمي والأمان المالي والمعايير البنكية</a:t>
            </a:r>
          </a:p>
          <a:p>
            <a:pPr algn="r" rtl="1">
              <a:spcBef>
                <a:spcPts val="2000"/>
              </a:spcBef>
              <a:defRPr sz="1300">
                <a:solidFill>
                  <a:srgbClr val="D1FAE5"/>
                </a:solidFill>
                <a:latin typeface="Arial"/>
              </a:defRPr>
            </a:pPr>
            <a:r>
              <a:t>د. محمد أحمد - خبير استراتيجيات التقنية المالية • مجموعة جيب للمدفوعات الرقمية الذكية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