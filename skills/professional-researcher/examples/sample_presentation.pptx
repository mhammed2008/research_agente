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645920"/>
            <a:ext cx="164592" cy="329184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8142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1FAE5"/>
                </a:solidFill>
                <a:latin typeface="Calibri"/>
              </a:defRPr>
            </a:pPr>
            <a:r>
              <a:t>EXECUTIVE INTELLIGENCE BRIEFING</a:t>
            </a:r>
          </a:p>
          <a:p>
            <a:pPr algn="l">
              <a:spcBef>
                <a:spcPts val="1400"/>
              </a:spcBef>
              <a:spcAft>
                <a:spcPts val="12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Next-Gen Fintech Acceptance &amp; SoftPOS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CBD5E1"/>
                </a:solidFill>
                <a:latin typeface="Calibri"/>
              </a:rPr>
              <a:t>PCI MPoC Certification, Tap-to-Pay Architecture, and 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303520"/>
            <a:ext cx="98142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Calibri"/>
              </a:defRPr>
            </a:pPr>
            <a:r>
              <a:t>Author: Senior Payments &amp; Security Researcher   |   Org: TeknoKeys FinTech Labs   |   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59669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Calibri"/>
              </a:defRPr>
            </a:pPr>
            <a:r>
              <a:t>TeknoKeys FinTech Labs • Next-Gen Fintech Acceptance &amp; SoftPOS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327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4E3B"/>
                </a:solidFill>
                <a:latin typeface="Calibri"/>
              </a:rPr>
              <a:t>Executive Agenda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74520"/>
            <a:ext cx="64008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828800"/>
            <a:ext cx="3931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Market Inflection: From Dedicated POS to COTS SoftPOS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1874520"/>
            <a:ext cx="64008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28800"/>
            <a:ext cx="3931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Architectural Stack: Kernel, HCE &amp; Secure Element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7180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154680"/>
            <a:ext cx="64008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08960"/>
            <a:ext cx="3931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Security Posture: PCI MPoC vs. Legacy SPoC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97180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3154680"/>
            <a:ext cx="64008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08960"/>
            <a:ext cx="3931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Production Performance &amp; Transaction Latency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5196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434840"/>
            <a:ext cx="64008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389120"/>
            <a:ext cx="3931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Regulatory Roadmap &amp; Commercial ROI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59669"/>
                </a:solidFill>
                <a:latin typeface="Calibri"/>
              </a:defRPr>
            </a:pPr>
            <a:r>
              <a:t>STRATEGIC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Calibri"/>
              </a:defRPr>
            </a:pPr>
            <a:r>
              <a:t>TeknoKeys FinTech Labs • Next-Gen Fintech Acceptance &amp; SoftPOS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327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4E3B"/>
                </a:solidFill>
                <a:latin typeface="Calibri"/>
              </a:rPr>
              <a:t>Market Drivers: The Shift to SoftPOS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72865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80015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Traditional payment acceptance requires capital-intensive hardware and lengthy deployment cycles: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Zero Dedicated Hardware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: Any commercial smartphone running Android 11+ or iOS 16+ functions as an EMV contactless terminal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Massive TCO Reduction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: Lowers terminal acquisition costs by over 70% for micro-merchants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PCI MPoC Standard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: Unified specification replacing fragmented SPoC and CPoC frameworks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– Decoupled software PIN-on-glass from proprietary kernel vendors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– Direct cloud attestation via Google Play Integrity and Apple App Attest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59669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Calibri"/>
              </a:defRPr>
            </a:pPr>
            <a:r>
              <a:t>TeknoKeys FinTech Labs • Next-Gen Fintech Acceptance &amp; SoftPOS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327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4E3B"/>
                </a:solidFill>
                <a:latin typeface="Calibri"/>
              </a:rPr>
              <a:t>Architectural Comparison: MPoC vs. Legacy POS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212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12080" cy="109728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59669"/>
                </a:solidFill>
                <a:latin typeface="Calibri"/>
              </a:rPr>
              <a:t>Legacy Dedicated 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• Proprietary locked terminal hardware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• High physical maintenance &amp; replacement cost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• Slow firmware OTA distribution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• Fragmented peripheral drivers (serial, USB)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212080" cy="109728"/>
          </a:xfrm>
          <a:prstGeom prst="round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4E3B"/>
                </a:solidFill>
                <a:latin typeface="Calibri"/>
              </a:rPr>
              <a:t>Modern COTS SoftPOS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• Standard commercial Android &amp; iOS devices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• Ephemeral software keys via cloud HSM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• Instant app updates via public app stores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• Unified API integration with ERP &amp; CRM apps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59669"/>
                </a:solidFill>
                <a:latin typeface="Calibri"/>
              </a:defRPr>
            </a:pPr>
            <a:r>
              <a:t>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Calibri"/>
              </a:defRPr>
            </a:pPr>
            <a:r>
              <a:t>TeknoKeys FinTech Labs • Next-Gen Fintech Acceptance &amp; SoftPOS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327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4E3B"/>
                </a:solidFill>
                <a:latin typeface="Calibri"/>
              </a:rPr>
              <a:t>Acceptance Latency &amp;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476423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476423" cy="109728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21106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Calibri"/>
              </a:defRPr>
            </a:pPr>
            <a:r>
              <a:t>&lt;350ms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211066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4E3B"/>
                </a:solidFill>
                <a:latin typeface="Calibri"/>
              </a:rPr>
              <a:t>Tap-to-Approval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4748B"/>
                </a:solidFill>
                <a:latin typeface="Calibri"/>
              </a:rPr>
              <a:t>Contactless RF card read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2263" y="1691640"/>
            <a:ext cx="2476423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82263" y="1691640"/>
            <a:ext cx="2476423" cy="109728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5143" y="2240280"/>
            <a:ext cx="21106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Calibri"/>
              </a:defRPr>
            </a:pPr>
            <a:r>
              <a:t>99.98%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5143" y="3429000"/>
            <a:ext cx="211066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4E3B"/>
                </a:solidFill>
                <a:latin typeface="Calibri"/>
              </a:rPr>
              <a:t>Processing Uptime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4748B"/>
                </a:solidFill>
                <a:latin typeface="Calibri"/>
              </a:rPr>
              <a:t>Redundant dual-cloud ISO 8583 switch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691640"/>
            <a:ext cx="2476423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3007" y="1691640"/>
            <a:ext cx="2476423" cy="109728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887" y="2240280"/>
            <a:ext cx="21106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Calibri"/>
              </a:defRPr>
            </a:pPr>
            <a:r>
              <a:t>48%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3429000"/>
            <a:ext cx="211066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4E3B"/>
                </a:solidFill>
                <a:latin typeface="Calibri"/>
              </a:rPr>
              <a:t>Cost Reduction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4748B"/>
                </a:solidFill>
                <a:latin typeface="Calibri"/>
              </a:rPr>
              <a:t>Per-terminal deployment &amp; operational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3751" y="1691640"/>
            <a:ext cx="2476423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83751" y="1691640"/>
            <a:ext cx="2476423" cy="109728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6631" y="2240280"/>
            <a:ext cx="21106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Calibri"/>
              </a:defRPr>
            </a:pPr>
            <a:r>
              <a:t>100k+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6631" y="3429000"/>
            <a:ext cx="211066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4E3B"/>
                </a:solidFill>
                <a:latin typeface="Calibri"/>
              </a:rPr>
              <a:t>Concurrent Terminals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4748B"/>
                </a:solidFill>
                <a:latin typeface="Calibri"/>
              </a:rPr>
              <a:t>Horizontally scalable serverless gateway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59669"/>
                </a:solidFill>
                <a:latin typeface="Calibri"/>
              </a:defRPr>
            </a:pPr>
            <a:r>
              <a:t>ATTESTATION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Calibri"/>
              </a:defRPr>
            </a:pPr>
            <a:r>
              <a:t>TeknoKeys FinTech Labs • Next-Gen Fintech Acceptance &amp; SoftPOS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327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4E3B"/>
                </a:solidFill>
                <a:latin typeface="Calibri"/>
              </a:rPr>
              <a:t>Security Compliance &amp; Runtime Self-Protection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429768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64592" cy="4297680"/>
          </a:xfrm>
          <a:prstGeom prst="round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11680"/>
            <a:ext cx="999713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11D48"/>
                </a:solidFill>
                <a:latin typeface="Calibri"/>
              </a:defRPr>
            </a:pPr>
            <a:r>
              <a:t>[PCI MPOC RUNTIME APPLICATION SELF-PROTECTION (RASP)]</a:t>
            </a:r>
          </a:p>
          <a:p>
            <a:pPr algn="l">
              <a:spcBef>
                <a:spcPts val="1200"/>
              </a:spcBef>
              <a:spcAft>
                <a:spcPts val="14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SoftPOS software running on off-the-shelf devices must operate under zero-trust assumptions. The application binary must continuously verify environment integrity: detecting root/jailbreak, hooking frameworks (Frida, Xposed), debugger attachments, and emulator virtualization. Any detected compromise triggers immediate cryptographic zeroization of ephemeral session keys.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59669"/>
                </a:solidFill>
                <a:latin typeface="Calibri"/>
              </a:defRPr>
            </a:pPr>
            <a:r>
              <a:t>TECHNICAL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Calibri"/>
              </a:defRPr>
            </a:pPr>
            <a:r>
              <a:t>TeknoKeys FinTech Labs • Next-Gen Fintech Acceptance &amp; SoftPOS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327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4E3B"/>
                </a:solidFill>
                <a:latin typeface="Calibri"/>
              </a:rPr>
              <a:t>Contactless Kernel Evaluation Matrix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85953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 Capability</a:t>
                      </a:r>
                    </a:p>
                  </a:txBody>
                  <a:tcPr anchor="ctr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Visa payWave (qVSDC)</a:t>
                      </a:r>
                    </a:p>
                  </a:txBody>
                  <a:tcPr anchor="ctr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Mastercard PayPass (M/Chip)</a:t>
                      </a:r>
                    </a:p>
                  </a:txBody>
                  <a:tcPr anchor="ctr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AMEX ExpressPay</a:t>
                      </a:r>
                    </a:p>
                  </a:txBody>
                  <a:tcPr anchor="ctr">
                    <a:solidFill>
                      <a:srgbClr val="064E3B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Max Transaction Speed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~320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~340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~310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Offline Data Auth (ODA)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CDA Preferred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CDA Supported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CDA / fDDA Supported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Cryptographic MAC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ARQC / TC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ARQC / AAC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ARQC / TC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Field 55 TLV Padding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Standard EMV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Extended Tags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Standard EMV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59669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Calibri"/>
              </a:defRPr>
            </a:pPr>
            <a:r>
              <a:t>TeknoKeys FinTech Labs • Next-Gen Fintech Acceptance &amp; SoftPOS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327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4E3B"/>
                </a:solidFill>
                <a:latin typeface="Calibri"/>
              </a:rPr>
              <a:t>Cryptographic Key Derivation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10180015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def derive_session_keys(bdk: bytes, ksn: bytes) -&gt; tuple[bytes, bytes]:</a:t>
            </a:r>
          </a:p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    # ANSI X9.24 DUKPT 2017 AES working key derivation</a:t>
            </a:r>
          </a:p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    device_id = ksn[:8]</a:t>
            </a:r>
          </a:p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    counter = int.from_bytes(ksn[8:], byteorder="big")</a:t>
            </a:r>
          </a:p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    </a:t>
            </a:r>
          </a:p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    # Generate cryptographic initial key (IK) inside hardware boundary</a:t>
            </a:r>
          </a:p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    initial_key = hsm_client.derive_initial_key(bdk, device_id)</a:t>
            </a:r>
          </a:p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    pin_key, mac_key = hsm_client.derive_working_keys(initial_key, counter)</a:t>
            </a:r>
          </a:p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    </a:t>
            </a:r>
          </a:p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    return pin_key, mac_key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011680"/>
            <a:ext cx="164592" cy="256032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920240"/>
            <a:ext cx="98142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Strategic Recommendations &amp; Milestones</a:t>
            </a:r>
          </a:p>
          <a:p>
            <a:pPr algn="l">
              <a:spcBef>
                <a:spcPts val="1400"/>
              </a:spcBef>
            </a:pPr>
            <a:r>
              <a:rPr sz="1800" b="0" i="0">
                <a:solidFill>
                  <a:srgbClr val="CBD5E1"/>
                </a:solidFill>
                <a:latin typeface="Calibri"/>
              </a:rPr>
              <a:t>PCI MPoC Certification, Tap-to-Pay Architecture, and Unit Economics</a:t>
            </a:r>
          </a:p>
          <a:p>
            <a:pPr algn="l">
              <a:spcBef>
                <a:spcPts val="2000"/>
              </a:spcBef>
              <a:defRPr sz="1300">
                <a:solidFill>
                  <a:srgbClr val="D1FAE5"/>
                </a:solidFill>
                <a:latin typeface="Calibri"/>
              </a:defRPr>
            </a:pPr>
            <a:r>
              <a:t>Senior Payments &amp; Security Researcher • TeknoKeys FinTech Labs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